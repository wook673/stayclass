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77777"/>
                </a:solidFill>
                <a:latin typeface="맑은 고딕"/>
              </a:rPr>
              <a:t>STAYCLASS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800" b="1">
                <a:solidFill>
                  <a:srgbClr val="F0ECE4"/>
                </a:solidFill>
                <a:latin typeface="맑은 고딕"/>
              </a:rPr>
              <a:t>직장 다니면서
월 150만원
더 버는 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154680"/>
            <a:ext cx="4389120" cy="73152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77777"/>
                </a:solidFill>
                <a:latin typeface="맑은 고딕"/>
              </a:rPr>
              <a:t>단기임대 수익 시스템 · 4주 현장강의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맑은 고딕"/>
              </a:rPr>
              <a:t>© 2026 STAYCLASS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>
                <a:solidFill>
                  <a:srgbClr val="161616"/>
                </a:solidFill>
                <a:latin typeface="맑은 고딕"/>
              </a:rPr>
              <a:t>150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오늘 배울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4주 완성
커리큘럼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474720"/>
            <a:ext cx="2560320" cy="36576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F57"/>
                </a:solidFill>
                <a:latin typeface="맑은 고딕"/>
              </a:rPr>
              <a:t>1주차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CE4"/>
                </a:solidFill>
                <a:latin typeface="맑은 고딕"/>
              </a:rPr>
              <a:t>수익 나는 물건 찾기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474720"/>
            <a:ext cx="2560320" cy="36576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F57"/>
                </a:solidFill>
                <a:latin typeface="맑은 고딕"/>
              </a:rPr>
              <a:t>2주차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CE4"/>
                </a:solidFill>
                <a:latin typeface="맑은 고딕"/>
              </a:rPr>
              <a:t>계약 &amp; 방 세팅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474720"/>
            <a:ext cx="2560320" cy="36576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F57"/>
                </a:solidFill>
                <a:latin typeface="맑은 고딕"/>
              </a:rPr>
              <a:t>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CE4"/>
                </a:solidFill>
                <a:latin typeface="맑은 고딕"/>
              </a:rPr>
              <a:t>운영 자동화 구축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474720"/>
            <a:ext cx="2560320" cy="36576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611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FF57"/>
                </a:solidFill>
                <a:latin typeface="맑은 고딕"/>
              </a:rPr>
              <a:t>4주차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069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CE4"/>
                </a:solidFill>
                <a:latin typeface="맑은 고딕"/>
              </a:rPr>
              <a:t>수익 극대화 &amp;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77777"/>
                </a:solidFill>
                <a:latin typeface="맑은 고딕"/>
              </a:rPr>
              <a:t>목표: 4주 후 방 1개 운영 시작 · 방 3개 → 월 150만원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왜 단기임대인가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이게 되는
이유 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CE4"/>
                </a:solidFill>
                <a:latin typeface="맑은 고딕"/>
              </a:rPr>
              <a:t>내 집 없어도 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29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맑은 고딕"/>
              </a:rPr>
              <a:t>임차인 구조로 운영 · 초기비용 100~150만원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86200"/>
            <a:ext cx="10360152" cy="63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CE4"/>
                </a:solidFill>
                <a:latin typeface="맑은 고딕"/>
              </a:rPr>
              <a:t>자동화가 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434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맑은 고딕"/>
              </a:rPr>
              <a:t>하루 30분 이내 운영 · 직장 병행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892040"/>
            <a:ext cx="10360152" cy="635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292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82828"/>
                </a:solidFill>
                <a:latin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CE4"/>
                </a:solidFill>
                <a:latin typeface="맑은 고딕"/>
              </a:rPr>
              <a:t>월세보다 2배 납니다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440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맑은 고딕"/>
              </a:rPr>
              <a:t>월세 30~40만원 vs 단기임대 50~70만원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수익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방 3개 =
월 150만원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맑은 고딕"/>
              </a:rPr>
              <a:t>방 1개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200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ECE4"/>
                </a:solidFill>
                <a:latin typeface="맑은 고딕"/>
              </a:rPr>
              <a:t>월 50~70만원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2461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FF57"/>
                </a:solidFill>
                <a:latin typeface="맑은 고딕"/>
              </a:rPr>
              <a:t>실측 기준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39312"/>
            <a:ext cx="8229600" cy="5486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639312"/>
            <a:ext cx="3127248" cy="54864"/>
          </a:xfrm>
          <a:prstGeom prst="rect">
            <a:avLst/>
          </a:prstGeom>
          <a:solidFill>
            <a:srgbClr val="F0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맑은 고딕"/>
              </a:rPr>
              <a:t>방 3개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FF57"/>
                </a:solidFill>
                <a:latin typeface="맑은 고딕"/>
              </a:rPr>
              <a:t>월 150~210만원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맑은 고딕"/>
              </a:rPr>
              <a:t>목표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45152"/>
            <a:ext cx="8229600" cy="5486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645152"/>
            <a:ext cx="5596128" cy="54864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맑은 고딕"/>
              </a:rPr>
              <a:t>방 7개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12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맑은 고딕"/>
              </a:rPr>
              <a:t>월 381만원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257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맑은 고딕"/>
              </a:rPr>
              <a:t>강사 실측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650992"/>
            <a:ext cx="8229600" cy="5486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5650992"/>
            <a:ext cx="82296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맑은 고딕"/>
              </a:rPr>
              <a:t>강사 직접 운영 실증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숫자가
증명합니다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10725912" cy="301752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072591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맑은 고딕"/>
              </a:rPr>
              <a:t>● LIVE  ·  Hostier 2026년 6월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C8FF57"/>
                </a:solidFill>
                <a:latin typeface="맑은 고딕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  <a:latin typeface="맑은 고딕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가동률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3657600"/>
            <a:ext cx="12700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6118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C8FF57"/>
                </a:solidFill>
                <a:latin typeface="맑은 고딕"/>
              </a:rPr>
              <a:t>381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  <a:latin typeface="맑은 고딕"/>
              </a:rPr>
              <a:t>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월 순수익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57600"/>
            <a:ext cx="12700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C8FF57"/>
                </a:solidFill>
                <a:latin typeface="맑은 고딕"/>
              </a:rPr>
              <a:t>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  <a:latin typeface="맑은 고딕"/>
              </a:rPr>
              <a:t>만원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방당 평균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657600"/>
            <a:ext cx="12700" cy="109728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61188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C8FF57"/>
                </a:solidFill>
                <a:latin typeface="맑은 고딕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74903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8BDF8"/>
                </a:solidFill>
                <a:latin typeface="맑은 고딕"/>
              </a:rPr>
              <a:t>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직영 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가동률 90% · 210박 중 188박 예약 확정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1주차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수익 나는
물건 찾기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역세권 · 병원 · 법원 인근 지역 선정 공식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삼삼엠투 vs 에어비앤비 수익 구조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수익 계산기로 사전 검증하는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집주인 협상 스크립트 제공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계약 전 체크리스트 완성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188720"/>
            <a:ext cx="2651760" cy="411480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FF57"/>
                </a:solidFill>
                <a:latin typeface="맑은 고딕"/>
              </a:rPr>
              <a:t>핵심 공식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ECE4"/>
                </a:solidFill>
                <a:latin typeface="맑은 고딕"/>
              </a:rPr>
              <a:t>수요 = 유동인구
÷ 숙소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017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이 비율이 높은 곳을
먼저 선점합니다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2주차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계약 &amp;
방 세팅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계약서 조항 체크리스트 (전대차 허용 조항 필수)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초기 세팅 물품 리스트 &amp; 비용 최소화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사진 촬영으로 클릭률 높이는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첫 예약 빠르게 받는 초기 가격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삼삼엠투 리스팅 첫 등록 실습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188720"/>
            <a:ext cx="2651760" cy="3474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FF57"/>
                </a:solidFill>
                <a:latin typeface="맑은 고딕"/>
              </a:rPr>
              <a:t>초기 비용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9202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보증금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1920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4"/>
                </a:solidFill>
                <a:latin typeface="맑은 고딕"/>
              </a:rPr>
              <a:t>50~100만원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514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세팅 용품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4"/>
                </a:solidFill>
                <a:latin typeface="맑은 고딕"/>
              </a:rPr>
              <a:t>30~50만원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중개비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ECE4"/>
                </a:solidFill>
                <a:latin typeface="맑은 고딕"/>
              </a:rPr>
              <a:t>10~20만원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3주차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운영
자동화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비대면 체크인 시스템 구축 (키박스 / 스마트락)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청소 위탁 업체 선정 기준 &amp; 단가 협상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메시지 자동화 템플릿 전체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예약 확인 → 안내 → 체크아웃 자동 흐름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하루 30분 운영 루틴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188720"/>
            <a:ext cx="2651760" cy="2560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FF57"/>
                </a:solidFill>
                <a:latin typeface="맑은 고딕"/>
              </a:rPr>
              <a:t>자동화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F57"/>
                </a:solidFill>
                <a:latin typeface="맑은 고딕"/>
              </a:rPr>
              <a:t>하루 30분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51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77777"/>
                </a:solidFill>
                <a:latin typeface="맑은 고딕"/>
              </a:rPr>
              <a:t>직장 퇴근 후
루틴 관리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8FF57"/>
                </a:solidFill>
                <a:latin typeface="맑은 고딕"/>
              </a:rPr>
              <a:t>4주차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0ECE4"/>
                </a:solidFill>
                <a:latin typeface="맑은 고딕"/>
              </a:rPr>
              <a:t>수익 극대화
&amp; 확장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시즌별 가격 조정 전략 (성수기 / 비수기)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공실 최소화 — 다채널 &amp; 할인 타이밍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플랫폼 노출 랭킹 올리는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2호점 계약 타이밍 공식 (1호점 안정 후 60일)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777777"/>
                </a:solidFill>
                <a:latin typeface="맑은 고딕"/>
              </a:rPr>
              <a:t>— 위탁운영 전환으로 완전 자동화 완성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188720"/>
            <a:ext cx="2651760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FF57"/>
                </a:solidFill>
                <a:latin typeface="맑은 고딕"/>
              </a:rPr>
              <a:t>최종 목표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C8FF57"/>
                </a:solidFill>
                <a:latin typeface="맑은 고딕"/>
              </a:rPr>
              <a:t>방 3개
월 150만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0175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8BDF8"/>
                </a:solidFill>
                <a:latin typeface="맑은 고딕"/>
              </a:rPr>
              <a:t>방 7개
월 381만 (실증)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>
                <a:solidFill>
                  <a:srgbClr val="1A1A1A"/>
                </a:solidFill>
                <a:latin typeface="맑은 고딕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ECE4"/>
                </a:solidFill>
                <a:latin typeface="맑은 고딕"/>
              </a:rPr>
              <a:t>궁금한 것 뭐든지 물어보세요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777777"/>
                </a:solidFill>
                <a:latin typeface="맑은 고딕"/>
              </a:rPr>
              <a:t>카카오채널 · pf.kakao.com/_APzxbX/chat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맑은 고딕"/>
              </a:rPr>
              <a:t>STAYCLASS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F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